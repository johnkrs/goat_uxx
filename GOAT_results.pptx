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9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64"/>
    <p:restoredTop sz="94239"/>
  </p:normalViewPr>
  <p:slideViewPr>
    <p:cSldViewPr snapToGrid="0">
      <p:cViewPr>
        <p:scale>
          <a:sx n="113" d="100"/>
          <a:sy n="113" d="100"/>
        </p:scale>
        <p:origin x="328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BCE1A1-FC00-7748-946D-DD80348E0E7A}" type="datetimeFigureOut">
              <a:rPr lang="en-GB" smtClean="0"/>
              <a:t>13/03/2026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6BE13C-E3BD-5147-958C-8BFE969840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367890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BCE1A1-FC00-7748-946D-DD80348E0E7A}" type="datetimeFigureOut">
              <a:rPr lang="en-GB" smtClean="0"/>
              <a:t>13/03/2026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6BE13C-E3BD-5147-958C-8BFE969840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82278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BCE1A1-FC00-7748-946D-DD80348E0E7A}" type="datetimeFigureOut">
              <a:rPr lang="en-GB" smtClean="0"/>
              <a:t>13/03/2026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6BE13C-E3BD-5147-958C-8BFE969840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20244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1912" y="2638044"/>
            <a:ext cx="4271771" cy="310198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315" y="2638044"/>
            <a:ext cx="4270247" cy="310198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BCE1A1-FC00-7748-946D-DD80348E0E7A}" type="datetimeFigureOut">
              <a:rPr lang="en-GB" smtClean="0"/>
              <a:t>13/03/2026</a:t>
            </a:fld>
            <a:endParaRPr lang="en-GB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6BE13C-E3BD-5147-958C-8BFE969840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256060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tx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tx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BCE1A1-FC00-7748-946D-DD80348E0E7A}" type="datetimeFigureOut">
              <a:rPr lang="en-GB" smtClean="0"/>
              <a:t>13/03/2026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6BE13C-E3BD-5147-958C-8BFE9698404F}" type="slidenum">
              <a:rPr lang="en-GB" smtClean="0"/>
              <a:t>‹#›</a:t>
            </a:fld>
            <a:endParaRPr lang="en-GB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03250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BCE1A1-FC00-7748-946D-DD80348E0E7A}" type="datetimeFigureOut">
              <a:rPr lang="en-GB" smtClean="0"/>
              <a:t>13/03/2026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6BE13C-E3BD-5147-958C-8BFE969840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915916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BCE1A1-FC00-7748-946D-DD80348E0E7A}" type="datetimeFigureOut">
              <a:rPr lang="en-GB" smtClean="0"/>
              <a:t>13/03/2026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6BE13C-E3BD-5147-958C-8BFE969840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91140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chemeClr val="tx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BCE1A1-FC00-7748-946D-DD80348E0E7A}" type="datetimeFigureOut">
              <a:rPr lang="en-GB" smtClean="0"/>
              <a:t>13/03/2026</a:t>
            </a:fld>
            <a:endParaRPr lang="en-GB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6BE13C-E3BD-5147-958C-8BFE969840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966204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8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chemeClr val="tx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64BCE1A1-FC00-7748-946D-DD80348E0E7A}" type="datetimeFigureOut">
              <a:rPr lang="en-GB" smtClean="0"/>
              <a:t>13/03/2026</a:t>
            </a:fld>
            <a:endParaRPr lang="en-GB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6BE13C-E3BD-5147-958C-8BFE969840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130384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BCE1A1-FC00-7748-946D-DD80348E0E7A}" type="datetimeFigureOut">
              <a:rPr lang="en-GB" smtClean="0"/>
              <a:t>13/03/2026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6BE13C-E3BD-5147-958C-8BFE969840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345413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BCE1A1-FC00-7748-946D-DD80348E0E7A}" type="datetimeFigureOut">
              <a:rPr lang="en-GB" smtClean="0"/>
              <a:t>13/03/2026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6BE13C-E3BD-5147-958C-8BFE969840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842756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  <a:prstGeom prst="rect">
            <a:avLst/>
          </a:prstGeom>
          <a:solidFill>
            <a:schemeClr val="bg1"/>
          </a:solidFill>
          <a:ln w="31750" cap="sq">
            <a:solidFill>
              <a:schemeClr val="tx1">
                <a:lumMod val="75000"/>
                <a:lumOff val="25000"/>
              </a:schemeClr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64BCE1A1-FC00-7748-946D-DD80348E0E7A}" type="datetimeFigureOut">
              <a:rPr lang="en-GB" smtClean="0"/>
              <a:t>13/03/2026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D96BE13C-E3BD-5147-958C-8BFE969840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23671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9" r:id="rId1"/>
    <p:sldLayoutId id="2147483800" r:id="rId2"/>
    <p:sldLayoutId id="2147483801" r:id="rId3"/>
    <p:sldLayoutId id="2147483802" r:id="rId4"/>
    <p:sldLayoutId id="2147483803" r:id="rId5"/>
    <p:sldLayoutId id="2147483804" r:id="rId6"/>
    <p:sldLayoutId id="2147483805" r:id="rId7"/>
    <p:sldLayoutId id="2147483806" r:id="rId8"/>
    <p:sldLayoutId id="2147483807" r:id="rId9"/>
    <p:sldLayoutId id="2147483808" r:id="rId10"/>
    <p:sldLayoutId id="2147483809" r:id="rId11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86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31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775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C6DB0F-9A39-4A6E-BA2C-A81CDCDBEC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00200" y="1359418"/>
            <a:ext cx="8991600" cy="1645920"/>
          </a:xfrm>
        </p:spPr>
        <p:txBody>
          <a:bodyPr>
            <a:normAutofit fontScale="90000"/>
          </a:bodyPr>
          <a:lstStyle/>
          <a:p>
            <a:r>
              <a:rPr lang="en-GB" b="1" dirty="0"/>
              <a:t>U_XX gate synthesis using </a:t>
            </a:r>
            <a:r>
              <a:rPr lang="en-GB" b="1" dirty="0" err="1"/>
              <a:t>qutip_qoc</a:t>
            </a:r>
            <a:r>
              <a:rPr lang="en-GB" b="1" dirty="0"/>
              <a:t> GOAT analytical pulse optimisation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A100A5C-2D3B-8170-5328-5B3F784628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200" y="3395433"/>
            <a:ext cx="6104744" cy="184592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F98A6B3-4170-51A6-C3A2-C46BD50356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9502" y="3391074"/>
            <a:ext cx="2212298" cy="18502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99337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EBC00B-3F13-4EDE-3CD5-C8C7900832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512" y="155223"/>
            <a:ext cx="11919579" cy="834128"/>
          </a:xfrm>
        </p:spPr>
        <p:txBody>
          <a:bodyPr/>
          <a:lstStyle/>
          <a:p>
            <a:pPr algn="l"/>
            <a:r>
              <a:rPr lang="en-GB" dirty="0"/>
              <a:t>Target U_XX &amp; Hamiltonian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8E9ED9-401E-6ADC-62E9-0CCC93294C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2512" y="1124262"/>
            <a:ext cx="11919578" cy="5578515"/>
          </a:xfrm>
        </p:spPr>
        <p:txBody>
          <a:bodyPr/>
          <a:lstStyle/>
          <a:p>
            <a:endParaRPr lang="en-GB" dirty="0"/>
          </a:p>
          <a:p>
            <a:r>
              <a:rPr lang="en-GB" dirty="0"/>
              <a:t>Full physical Hamiltonian:</a:t>
            </a:r>
          </a:p>
          <a:p>
            <a:endParaRPr lang="en-GB" dirty="0"/>
          </a:p>
          <a:p>
            <a:endParaRPr lang="en-GB" dirty="0"/>
          </a:p>
          <a:p>
            <a:pPr marL="0" indent="0">
              <a:buNone/>
            </a:pPr>
            <a:endParaRPr lang="en-GB" dirty="0"/>
          </a:p>
          <a:p>
            <a:r>
              <a:rPr lang="en-GB" dirty="0" err="1"/>
              <a:t>Ising</a:t>
            </a:r>
            <a:r>
              <a:rPr lang="en-GB" dirty="0"/>
              <a:t>-like/effective Hamiltonian:</a:t>
            </a:r>
          </a:p>
          <a:p>
            <a:endParaRPr lang="en-GB" dirty="0"/>
          </a:p>
          <a:p>
            <a:endParaRPr lang="en-GB" dirty="0"/>
          </a:p>
          <a:p>
            <a:r>
              <a:rPr lang="en-GB" dirty="0"/>
              <a:t>Target Unitary:</a:t>
            </a:r>
          </a:p>
          <a:p>
            <a:endParaRPr lang="en-GB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380F181-585D-BDF4-CCB8-E71694189F8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458762" y="1941331"/>
            <a:ext cx="6742542" cy="93393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EF12F55-141E-BCBB-7714-8C900E3753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762" y="3560046"/>
            <a:ext cx="4851400" cy="4445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5B8AE8A-77B7-E270-5E1D-205536BD654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16303" y="1941330"/>
            <a:ext cx="2997620" cy="93393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B144EC5-E69D-B8BE-86F4-ADA25D59171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8762" y="4818817"/>
            <a:ext cx="4813300" cy="6731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252FAAB-98E5-15D7-96B4-BEE01879B1C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61496" y="4818817"/>
            <a:ext cx="1716888" cy="6759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08316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EBC00B-3F13-4EDE-3CD5-C8C7900832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512" y="155223"/>
            <a:ext cx="11919579" cy="834128"/>
          </a:xfrm>
        </p:spPr>
        <p:txBody>
          <a:bodyPr/>
          <a:lstStyle/>
          <a:p>
            <a:pPr algn="l"/>
            <a:r>
              <a:rPr lang="en-GB" dirty="0"/>
              <a:t>Paper: </a:t>
            </a:r>
            <a:r>
              <a:rPr lang="en-GB" b="1" dirty="0"/>
              <a:t>GRAPE</a:t>
            </a:r>
            <a:r>
              <a:rPr lang="en-GB" dirty="0"/>
              <a:t> state-to-state-transfer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8E9ED9-401E-6ADC-62E9-0CCC93294C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2512" y="1124262"/>
            <a:ext cx="11919578" cy="5578515"/>
          </a:xfrm>
        </p:spPr>
        <p:txBody>
          <a:bodyPr/>
          <a:lstStyle/>
          <a:p>
            <a:endParaRPr lang="en-GB" dirty="0"/>
          </a:p>
          <a:p>
            <a:endParaRPr lang="en-GB" dirty="0"/>
          </a:p>
          <a:p>
            <a:r>
              <a:rPr lang="en-GB" dirty="0"/>
              <a:t>GRAPE parameterizes control as many piecewise constant time slots</a:t>
            </a:r>
          </a:p>
          <a:p>
            <a:pPr marL="0" indent="0">
              <a:buNone/>
            </a:pPr>
            <a:r>
              <a:rPr lang="en-GB" dirty="0"/>
              <a:t>    =&gt; enough flexibility to fit complex signal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Paper used 400k </a:t>
            </a:r>
            <a:r>
              <a:rPr lang="en-GB" dirty="0" err="1"/>
              <a:t>timeslices</a:t>
            </a:r>
            <a:r>
              <a:rPr lang="en-GB" dirty="0"/>
              <a:t> with 10 </a:t>
            </a:r>
            <a:r>
              <a:rPr lang="en-GB" dirty="0" err="1"/>
              <a:t>ps</a:t>
            </a:r>
            <a:r>
              <a:rPr lang="en-GB" dirty="0"/>
              <a:t> resolution </a:t>
            </a:r>
          </a:p>
          <a:p>
            <a:pPr marL="0" indent="0">
              <a:buNone/>
            </a:pPr>
            <a:r>
              <a:rPr lang="en-GB" dirty="0"/>
              <a:t>	- frequency spectrum up to ~50 GHz</a:t>
            </a:r>
          </a:p>
          <a:p>
            <a:pPr marL="0" indent="0">
              <a:buNone/>
            </a:pPr>
            <a:r>
              <a:rPr lang="en-GB" dirty="0"/>
              <a:t>	- peaks at electron and nucleus resonance frequencies </a:t>
            </a:r>
          </a:p>
          <a:p>
            <a:pPr marL="0" indent="0">
              <a:buNone/>
            </a:pPr>
            <a:r>
              <a:rPr lang="en-GB" dirty="0"/>
              <a:t>	   to drive transitions (e.g., </a:t>
            </a:r>
            <a:r>
              <a:rPr lang="en-GB" dirty="0" err="1"/>
              <a:t>Lamor</a:t>
            </a:r>
            <a:r>
              <a:rPr lang="en-GB" dirty="0"/>
              <a:t> frequency at ~27 GHz)</a:t>
            </a:r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B2296EF-C426-9DDE-0AA6-E9F4748D1E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29306" y="1203513"/>
            <a:ext cx="4574065" cy="275489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C1B93FF-E775-A7E5-4D6A-D436705B5E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9305" y="4037658"/>
            <a:ext cx="4574066" cy="2665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04473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EBC00B-3F13-4EDE-3CD5-C8C7900832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512" y="155223"/>
            <a:ext cx="11919579" cy="834128"/>
          </a:xfrm>
        </p:spPr>
        <p:txBody>
          <a:bodyPr/>
          <a:lstStyle/>
          <a:p>
            <a:pPr algn="l">
              <a:tabLst>
                <a:tab pos="2435225" algn="l"/>
              </a:tabLst>
            </a:pPr>
            <a:r>
              <a:rPr lang="en-GB" dirty="0"/>
              <a:t>(non-feasible) </a:t>
            </a:r>
            <a:r>
              <a:rPr lang="en-GB" b="1" dirty="0"/>
              <a:t>GOAT</a:t>
            </a:r>
            <a:r>
              <a:rPr lang="en-GB" dirty="0"/>
              <a:t> Runs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8E9ED9-401E-6ADC-62E9-0CCC93294C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2512" y="1124262"/>
            <a:ext cx="11919578" cy="5578515"/>
          </a:xfrm>
        </p:spPr>
        <p:txBody>
          <a:bodyPr/>
          <a:lstStyle/>
          <a:p>
            <a:pPr marL="0" indent="0">
              <a:buNone/>
            </a:pPr>
            <a:endParaRPr lang="en-GB" sz="1200" dirty="0"/>
          </a:p>
          <a:p>
            <a:r>
              <a:rPr lang="en-GB" dirty="0"/>
              <a:t>SMALLER PARAMETER RUN:</a:t>
            </a:r>
          </a:p>
          <a:p>
            <a:pPr marL="0" indent="0">
              <a:buNone/>
            </a:pPr>
            <a:r>
              <a:rPr lang="en-GB" dirty="0"/>
              <a:t>    </a:t>
            </a:r>
            <a:r>
              <a:rPr lang="en-GB" dirty="0" err="1"/>
              <a:t>Nsteps</a:t>
            </a:r>
            <a:r>
              <a:rPr lang="en-GB" dirty="0"/>
              <a:t>=20k,  T=4µs,  K=384,  </a:t>
            </a:r>
            <a:r>
              <a:rPr lang="en-GB" dirty="0" err="1"/>
              <a:t>n_ts</a:t>
            </a:r>
            <a:r>
              <a:rPr lang="en-GB" dirty="0"/>
              <a:t>=1600,  Amax=40</a:t>
            </a:r>
          </a:p>
          <a:p>
            <a:pPr marL="0" indent="0">
              <a:buNone/>
            </a:pPr>
            <a:r>
              <a:rPr lang="en-GB" dirty="0"/>
              <a:t>	=&gt; infidelity of ~0.5</a:t>
            </a:r>
          </a:p>
          <a:p>
            <a:pPr marL="0" indent="0">
              <a:buNone/>
            </a:pPr>
            <a:r>
              <a:rPr lang="en-GB" dirty="0"/>
              <a:t>	=&gt; takes envelope shape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TO MATCH PAPER RESOLUTION:</a:t>
            </a:r>
          </a:p>
          <a:p>
            <a:pPr marL="0" indent="0">
              <a:buNone/>
            </a:pPr>
            <a:r>
              <a:rPr lang="en-GB" dirty="0"/>
              <a:t>    10ps resolution would correspond to K ~ 10^5   </a:t>
            </a:r>
          </a:p>
          <a:p>
            <a:pPr marL="0" indent="0">
              <a:buNone/>
            </a:pPr>
            <a:r>
              <a:rPr lang="en-GB" dirty="0"/>
              <a:t>     =&gt;  model too large, runtime / memory error: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GB" dirty="0"/>
              <a:t>         </a:t>
            </a:r>
            <a:r>
              <a:rPr lang="en-GB" sz="1200" dirty="0"/>
              <a:t>(</a:t>
            </a:r>
            <a:r>
              <a:rPr lang="en-GB" sz="1200" b="0" i="0" dirty="0" err="1">
                <a:solidFill>
                  <a:srgbClr val="C00000"/>
                </a:solidFill>
                <a:effectLst/>
                <a:latin typeface="Menlo" panose="020B0609030804020204" pitchFamily="49" charset="0"/>
              </a:rPr>
              <a:t>MemoryError</a:t>
            </a:r>
            <a:r>
              <a:rPr lang="en-GB" sz="1200" b="0" i="0" dirty="0">
                <a:solidFill>
                  <a:srgbClr val="C00000"/>
                </a:solidFill>
                <a:effectLst/>
                <a:latin typeface="Menlo" panose="020B0609030804020204" pitchFamily="49" charset="0"/>
              </a:rPr>
              <a:t>: </a:t>
            </a:r>
            <a:r>
              <a:rPr lang="en-GB" sz="1200" b="0" i="0" dirty="0">
                <a:solidFill>
                  <a:srgbClr val="002060"/>
                </a:solidFill>
                <a:effectLst/>
                <a:latin typeface="Menlo" panose="020B0609030804020204" pitchFamily="49" charset="0"/>
              </a:rPr>
              <a:t>Unable to allocate 931. TiB for an array with shape 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GB" sz="1200" dirty="0">
                <a:solidFill>
                  <a:srgbClr val="002060"/>
                </a:solidFill>
                <a:latin typeface="Menlo" panose="020B0609030804020204" pitchFamily="49" charset="0"/>
              </a:rPr>
              <a:t>      </a:t>
            </a:r>
            <a:r>
              <a:rPr lang="en-GB" sz="1200" b="0" i="0" dirty="0">
                <a:solidFill>
                  <a:srgbClr val="002060"/>
                </a:solidFill>
                <a:effectLst/>
                <a:latin typeface="Menlo" panose="020B0609030804020204" pitchFamily="49" charset="0"/>
              </a:rPr>
              <a:t>(8000009, 8000009) and data type complex128</a:t>
            </a:r>
            <a:r>
              <a:rPr lang="en-GB" sz="1200" b="0" i="0" dirty="0">
                <a:solidFill>
                  <a:schemeClr val="tx1"/>
                </a:solidFill>
                <a:effectLst/>
                <a:latin typeface="Menlo" panose="020B060903080402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dirty="0">
              <a:solidFill>
                <a:schemeClr val="tx1"/>
              </a:solidFill>
              <a:latin typeface="Menlo" panose="020B06090308040202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endParaRPr lang="en-GB" sz="1200" dirty="0">
              <a:solidFill>
                <a:schemeClr val="tx1"/>
              </a:solidFill>
              <a:latin typeface="Menlo" panose="020B0609030804020204" pitchFamily="49" charset="0"/>
            </a:endParaRPr>
          </a:p>
          <a:p>
            <a:r>
              <a:rPr lang="en-GB" dirty="0"/>
              <a:t>Potential solution:  carrier-informed GOAT - hardcode fast frequencies</a:t>
            </a:r>
          </a:p>
          <a:p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9549925-3FDA-FE21-DCAF-D2AC0000D8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9689" y="1093638"/>
            <a:ext cx="3454093" cy="162184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F39D2AE-6436-CAD4-B96E-108590FB22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9690" y="2784025"/>
            <a:ext cx="3454093" cy="3925709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AE67D3D6-F068-7E6B-3EE8-4889C7A2E726}"/>
              </a:ext>
            </a:extLst>
          </p:cNvPr>
          <p:cNvSpPr/>
          <p:nvPr/>
        </p:nvSpPr>
        <p:spPr>
          <a:xfrm>
            <a:off x="9397028" y="4521268"/>
            <a:ext cx="870863" cy="2159050"/>
          </a:xfrm>
          <a:prstGeom prst="rect">
            <a:avLst/>
          </a:prstGeom>
          <a:noFill/>
          <a:ln w="952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E1D47BC-37D6-55C5-99C2-B2B3D00D2222}"/>
              </a:ext>
            </a:extLst>
          </p:cNvPr>
          <p:cNvSpPr/>
          <p:nvPr/>
        </p:nvSpPr>
        <p:spPr>
          <a:xfrm>
            <a:off x="8578731" y="2893481"/>
            <a:ext cx="726651" cy="125792"/>
          </a:xfrm>
          <a:prstGeom prst="rect">
            <a:avLst/>
          </a:prstGeom>
          <a:noFill/>
          <a:ln w="952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66FF3D6-65A7-1A46-94D0-4F3E49C0E1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217" y="5887307"/>
            <a:ext cx="2463800" cy="55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00987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EBC00B-3F13-4EDE-3CD5-C8C7900832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512" y="155223"/>
            <a:ext cx="11919579" cy="834128"/>
          </a:xfrm>
        </p:spPr>
        <p:txBody>
          <a:bodyPr/>
          <a:lstStyle/>
          <a:p>
            <a:pPr algn="l">
              <a:tabLst>
                <a:tab pos="2435225" algn="l"/>
              </a:tabLst>
            </a:pPr>
            <a:r>
              <a:rPr lang="en-GB" dirty="0"/>
              <a:t>Carrier-informed </a:t>
            </a:r>
            <a:r>
              <a:rPr lang="en-GB" b="1" dirty="0"/>
              <a:t>GOAT</a:t>
            </a:r>
            <a:r>
              <a:rPr lang="en-GB" dirty="0"/>
              <a:t> runs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8E9ED9-401E-6ADC-62E9-0CCC93294C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2512" y="1124262"/>
            <a:ext cx="11919578" cy="5578515"/>
          </a:xfrm>
        </p:spPr>
        <p:txBody>
          <a:bodyPr/>
          <a:lstStyle/>
          <a:p>
            <a:r>
              <a:rPr lang="en-GB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1423536837"/>
      </p:ext>
    </p:extLst>
  </p:cSld>
  <p:clrMapOvr>
    <a:masterClrMapping/>
  </p:clrMapOvr>
</p:sld>
</file>

<file path=ppt/theme/theme1.xml><?xml version="1.0" encoding="utf-8"?>
<a:theme xmlns:a="http://schemas.openxmlformats.org/drawingml/2006/main" name="Parcel">
  <a:themeElements>
    <a:clrScheme name="Parcel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9BAFB5"/>
      </a:accent2>
      <a:accent3>
        <a:srgbClr val="C96731"/>
      </a:accent3>
      <a:accent4>
        <a:srgbClr val="9CA383"/>
      </a:accent4>
      <a:accent5>
        <a:srgbClr val="87795D"/>
      </a:accent5>
      <a:accent6>
        <a:srgbClr val="A0988C"/>
      </a:accent6>
      <a:hlink>
        <a:srgbClr val="00B0F0"/>
      </a:hlink>
      <a:folHlink>
        <a:srgbClr val="738F97"/>
      </a:folHlink>
    </a:clrScheme>
    <a:fontScheme name="Parcel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71C241A9-A460-4AD1-916F-25308628A5B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{F6912AE0-4D68-C64B-A9DD-3CE0F1B83A3C}tf10001120</Template>
  <TotalTime>5731</TotalTime>
  <Words>201</Words>
  <Application>Microsoft Macintosh PowerPoint</Application>
  <PresentationFormat>Widescreen</PresentationFormat>
  <Paragraphs>40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Gill Sans MT</vt:lpstr>
      <vt:lpstr>Menlo</vt:lpstr>
      <vt:lpstr>Parcel</vt:lpstr>
      <vt:lpstr>U_XX gate synthesis using qutip_qoc GOAT analytical pulse optimisation</vt:lpstr>
      <vt:lpstr>Target U_XX &amp; Hamiltonian </vt:lpstr>
      <vt:lpstr>Paper: GRAPE state-to-state-transfer</vt:lpstr>
      <vt:lpstr>(non-feasible) GOAT Runs</vt:lpstr>
      <vt:lpstr>Carrier-informed GOAT runs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U_XX gate synthesis using qutip_qoc GOAT analytical pulse</dc:title>
  <dc:creator>John Kraus</dc:creator>
  <cp:lastModifiedBy>John Kraus</cp:lastModifiedBy>
  <cp:revision>14</cp:revision>
  <dcterms:created xsi:type="dcterms:W3CDTF">2026-03-13T13:25:16Z</dcterms:created>
  <dcterms:modified xsi:type="dcterms:W3CDTF">2026-03-17T12:56:16Z</dcterms:modified>
</cp:coreProperties>
</file>