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3" r:id="rId9"/>
    <p:sldId id="262" r:id="rId10"/>
    <p:sldId id="264" r:id="rId11"/>
    <p:sldId id="265" r:id="rId12"/>
    <p:sldId id="267" r:id="rId13"/>
    <p:sldId id="269" r:id="rId14"/>
    <p:sldId id="268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0"/>
    <p:restoredTop sz="94290"/>
  </p:normalViewPr>
  <p:slideViewPr>
    <p:cSldViewPr snapToGrid="0">
      <p:cViewPr varScale="1">
        <p:scale>
          <a:sx n="99" d="100"/>
          <a:sy n="9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78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22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02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60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32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59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11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62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038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54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27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BCE1A1-FC00-7748-946D-DD80348E0E7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96BE13C-E3BD-5147-958C-8BFE96984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36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6DB0F-9A39-4A6E-BA2C-A81CDCDBE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359418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U_XX gate synthesis using </a:t>
            </a:r>
            <a:r>
              <a:rPr lang="en-GB" b="1" dirty="0" err="1"/>
              <a:t>qutip_qoc</a:t>
            </a:r>
            <a:r>
              <a:rPr lang="en-GB" b="1" dirty="0"/>
              <a:t> GOAT analytical pulse optimisation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00A5C-2D3B-8170-5328-5B3F78462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395433"/>
            <a:ext cx="6104744" cy="18459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98A6B3-4170-51A6-C3A2-C46BD5035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02" y="3391074"/>
            <a:ext cx="2212298" cy="185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33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/>
            <a:r>
              <a:rPr lang="en-GB" dirty="0"/>
              <a:t>Target U_XX &amp; Hamiltonian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E9ED9-401E-6ADC-62E9-0CCC93294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12" y="1124262"/>
            <a:ext cx="11919578" cy="5578515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Full physical Hamiltonian: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 err="1"/>
              <a:t>Ising</a:t>
            </a:r>
            <a:r>
              <a:rPr lang="en-GB" dirty="0"/>
              <a:t>-like/effective Hamiltonian: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Target Unitary: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80F181-585D-BDF4-CCB8-E71694189F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8762" y="1941331"/>
            <a:ext cx="6742542" cy="9339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F12F55-141E-BCBB-7714-8C900E375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62" y="3560046"/>
            <a:ext cx="4851400" cy="44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B8AE8A-77B7-E270-5E1D-205536BD6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303" y="1941330"/>
            <a:ext cx="2997620" cy="9339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144EC5-E69D-B8BE-86F4-ADA25D591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762" y="4818817"/>
            <a:ext cx="4813300" cy="673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52FAAB-98E5-15D7-96B4-BEE01879B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1496" y="4818817"/>
            <a:ext cx="1716888" cy="67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31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/>
            <a:r>
              <a:rPr lang="en-GB" dirty="0"/>
              <a:t>Paper: </a:t>
            </a:r>
            <a:r>
              <a:rPr lang="en-GB" b="1" dirty="0"/>
              <a:t>GRAPE</a:t>
            </a:r>
            <a:r>
              <a:rPr lang="en-GB" dirty="0"/>
              <a:t> state-to-state-transfer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E9ED9-401E-6ADC-62E9-0CCC93294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12" y="1124262"/>
            <a:ext cx="11919578" cy="5578515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GRAPE parameterizes control as many piecewise constant time slots</a:t>
            </a:r>
          </a:p>
          <a:p>
            <a:pPr marL="0" indent="0">
              <a:buNone/>
            </a:pPr>
            <a:r>
              <a:rPr lang="en-GB" dirty="0"/>
              <a:t>    =&gt; enough flexibility to fit complex signal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Paper used 400k </a:t>
            </a:r>
            <a:r>
              <a:rPr lang="en-GB" dirty="0" err="1"/>
              <a:t>timeslices</a:t>
            </a:r>
            <a:r>
              <a:rPr lang="en-GB" dirty="0"/>
              <a:t> with 10 </a:t>
            </a:r>
            <a:r>
              <a:rPr lang="en-GB" dirty="0" err="1"/>
              <a:t>ps</a:t>
            </a:r>
            <a:r>
              <a:rPr lang="en-GB" dirty="0"/>
              <a:t> resolution </a:t>
            </a:r>
          </a:p>
          <a:p>
            <a:pPr marL="0" indent="0">
              <a:buNone/>
            </a:pPr>
            <a:r>
              <a:rPr lang="en-GB" dirty="0"/>
              <a:t>	- frequency spectrum up to ~50 GHz</a:t>
            </a:r>
          </a:p>
          <a:p>
            <a:pPr marL="0" indent="0">
              <a:buNone/>
            </a:pPr>
            <a:r>
              <a:rPr lang="en-GB" dirty="0"/>
              <a:t>	- peaks at electron and nucleus resonance frequencies </a:t>
            </a:r>
          </a:p>
          <a:p>
            <a:pPr marL="0" indent="0">
              <a:buNone/>
            </a:pPr>
            <a:r>
              <a:rPr lang="en-GB" dirty="0"/>
              <a:t>	   to drive transitions (e.g., </a:t>
            </a:r>
            <a:r>
              <a:rPr lang="en-GB" dirty="0" err="1"/>
              <a:t>Lamor</a:t>
            </a:r>
            <a:r>
              <a:rPr lang="en-GB" dirty="0"/>
              <a:t> frequency at ~27 GHz)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296EF-C426-9DDE-0AA6-E9F4748D1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306" y="1203513"/>
            <a:ext cx="4574065" cy="2754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1B93FF-E775-A7E5-4D6A-D436705B5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305" y="4037658"/>
            <a:ext cx="4574066" cy="266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47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r>
              <a:rPr lang="en-GB" dirty="0"/>
              <a:t>(non-feasible) </a:t>
            </a:r>
            <a:r>
              <a:rPr lang="en-GB" b="1" dirty="0"/>
              <a:t>GOAT</a:t>
            </a:r>
            <a:r>
              <a:rPr lang="en-GB" dirty="0"/>
              <a:t> Runs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E9ED9-401E-6ADC-62E9-0CCC93294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12" y="1124262"/>
            <a:ext cx="11919578" cy="5578515"/>
          </a:xfrm>
        </p:spPr>
        <p:txBody>
          <a:bodyPr/>
          <a:lstStyle/>
          <a:p>
            <a:pPr marL="0" indent="0">
              <a:buNone/>
            </a:pPr>
            <a:endParaRPr lang="en-GB" sz="1200" dirty="0"/>
          </a:p>
          <a:p>
            <a:r>
              <a:rPr lang="en-GB" dirty="0"/>
              <a:t>SMALLER PARAMETER RUN: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Nsteps</a:t>
            </a:r>
            <a:r>
              <a:rPr lang="en-GB" dirty="0"/>
              <a:t>=20k,  T=4µs,  K=384,  </a:t>
            </a:r>
            <a:r>
              <a:rPr lang="en-GB" dirty="0" err="1"/>
              <a:t>n_ts</a:t>
            </a:r>
            <a:r>
              <a:rPr lang="en-GB" dirty="0"/>
              <a:t>=1600,  Amax=40</a:t>
            </a:r>
          </a:p>
          <a:p>
            <a:pPr marL="0" indent="0">
              <a:buNone/>
            </a:pPr>
            <a:r>
              <a:rPr lang="en-GB" dirty="0"/>
              <a:t>	=&gt; infidelity of ~0.5</a:t>
            </a:r>
          </a:p>
          <a:p>
            <a:pPr marL="0" indent="0">
              <a:buNone/>
            </a:pPr>
            <a:r>
              <a:rPr lang="en-GB" dirty="0"/>
              <a:t>	=&gt; takes envelope shape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TO MATCH PAPER RESOLUTION:</a:t>
            </a:r>
          </a:p>
          <a:p>
            <a:pPr marL="0" indent="0">
              <a:buNone/>
            </a:pPr>
            <a:r>
              <a:rPr lang="en-GB" dirty="0"/>
              <a:t>    10ps resolution would correspond to K ~ 10^5   </a:t>
            </a:r>
          </a:p>
          <a:p>
            <a:pPr marL="0" indent="0">
              <a:buNone/>
            </a:pPr>
            <a:r>
              <a:rPr lang="en-GB" dirty="0"/>
              <a:t>     =&gt;  model too large, runtime / memory error: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         </a:t>
            </a:r>
            <a:r>
              <a:rPr lang="en-GB" sz="1200" dirty="0"/>
              <a:t>(</a:t>
            </a:r>
            <a:r>
              <a:rPr lang="en-GB" sz="1200" b="0" i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MemoryError</a:t>
            </a:r>
            <a:r>
              <a:rPr lang="en-GB" sz="1200" b="0" i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200" b="0" i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Unable to allocate 931. TiB for an array with shape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>
                <a:solidFill>
                  <a:srgbClr val="002060"/>
                </a:solidFill>
                <a:latin typeface="Menlo" panose="020B0609030804020204" pitchFamily="49" charset="0"/>
              </a:rPr>
              <a:t>      </a:t>
            </a:r>
            <a:r>
              <a:rPr lang="en-GB" sz="1200" b="0" i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(8000009, 8000009) and data type complex128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200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/>
              <a:t>=&gt; carrier-informed GOAT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549925-3FDA-FE21-DCAF-D2AC0000D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689" y="1093638"/>
            <a:ext cx="3454093" cy="1621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9D2AE-6436-CAD4-B96E-108590FB2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690" y="2784025"/>
            <a:ext cx="3454093" cy="39257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E67D3D6-F068-7E6B-3EE8-4889C7A2E726}"/>
              </a:ext>
            </a:extLst>
          </p:cNvPr>
          <p:cNvSpPr/>
          <p:nvPr/>
        </p:nvSpPr>
        <p:spPr>
          <a:xfrm>
            <a:off x="9397028" y="4521268"/>
            <a:ext cx="870863" cy="215905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1D47BC-37D6-55C5-99C2-B2B3D00D2222}"/>
              </a:ext>
            </a:extLst>
          </p:cNvPr>
          <p:cNvSpPr/>
          <p:nvPr/>
        </p:nvSpPr>
        <p:spPr>
          <a:xfrm>
            <a:off x="8578731" y="2893481"/>
            <a:ext cx="726651" cy="1257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6FF3D6-65A7-1A46-94D0-4F3E49C0E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17" y="5887307"/>
            <a:ext cx="2463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98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r>
              <a:rPr lang="en-GB" dirty="0"/>
              <a:t>Carrier-informed </a:t>
            </a:r>
            <a:r>
              <a:rPr lang="en-GB" b="1" dirty="0"/>
              <a:t>GOAT</a:t>
            </a:r>
            <a:r>
              <a:rPr lang="en-GB" dirty="0"/>
              <a:t> runs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E9ED9-401E-6ADC-62E9-0CCC93294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12" y="1124262"/>
            <a:ext cx="11919578" cy="5578515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Carrier informed model ran for ~40h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No fidelity increase (~0.5)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06F2B5-C76E-6709-00E4-1DD37F33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490" y="1124262"/>
            <a:ext cx="54356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3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CD6E3-D1AA-45BF-06E2-119D4CB1E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240453"/>
            <a:ext cx="8991600" cy="1645920"/>
          </a:xfrm>
        </p:spPr>
        <p:txBody>
          <a:bodyPr>
            <a:normAutofit/>
          </a:bodyPr>
          <a:lstStyle/>
          <a:p>
            <a:r>
              <a:rPr lang="en-GB" sz="2800" dirty="0"/>
              <a:t>Rotating frame </a:t>
            </a:r>
            <a:r>
              <a:rPr lang="en-GB" sz="2800" dirty="0" err="1"/>
              <a:t>ising</a:t>
            </a:r>
            <a:r>
              <a:rPr lang="en-GB" sz="2800" dirty="0"/>
              <a:t> Hamiltonian </a:t>
            </a:r>
            <a:br>
              <a:rPr lang="en-GB" sz="2800" dirty="0"/>
            </a:br>
            <a:r>
              <a:rPr lang="en-GB" sz="2800" dirty="0"/>
              <a:t>+ 2 independent controls per particle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16477-B0DB-2856-CE21-3DC9BBA42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5194" y="3104444"/>
            <a:ext cx="6801612" cy="357957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Hamiltonian: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Controls: </a:t>
            </a:r>
            <a:r>
              <a:rPr lang="el-GR" b="0" i="0" u="none" strike="noStrike" dirty="0">
                <a:effectLst/>
                <a:latin typeface="Google Sans"/>
              </a:rPr>
              <a:t>σ</a:t>
            </a:r>
            <a:r>
              <a:rPr lang="de-DE" b="0" i="0" u="none" strike="noStrike" dirty="0">
                <a:effectLst/>
                <a:latin typeface="Google Sans"/>
              </a:rPr>
              <a:t>_x, </a:t>
            </a:r>
            <a:r>
              <a:rPr lang="el-GR" b="0" i="0" u="none" strike="noStrike" dirty="0">
                <a:effectLst/>
                <a:latin typeface="Google Sans"/>
              </a:rPr>
              <a:t>σ</a:t>
            </a:r>
            <a:r>
              <a:rPr lang="de-DE" b="0" i="0" u="none" strike="noStrike" dirty="0">
                <a:effectLst/>
                <a:latin typeface="Google Sans"/>
              </a:rPr>
              <a:t>_</a:t>
            </a:r>
            <a:r>
              <a:rPr lang="de-DE" b="0" i="0" u="none" strike="noStrike" dirty="0" err="1">
                <a:effectLst/>
                <a:latin typeface="Google Sans"/>
              </a:rPr>
              <a:t>y</a:t>
            </a:r>
            <a:r>
              <a:rPr lang="de-DE" b="0" i="0" u="none" strike="noStrike" dirty="0">
                <a:effectLst/>
                <a:latin typeface="Google Sans"/>
              </a:rPr>
              <a:t> per </a:t>
            </a:r>
            <a:r>
              <a:rPr lang="de-DE" b="0" i="0" u="none" strike="noStrike" dirty="0" err="1">
                <a:effectLst/>
                <a:latin typeface="Google Sans"/>
              </a:rPr>
              <a:t>particle</a:t>
            </a:r>
            <a:endParaRPr lang="de-DE" b="0" i="0" u="none" strike="noStrike" dirty="0">
              <a:effectLst/>
              <a:latin typeface="Google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>
              <a:latin typeface="Google Sans"/>
            </a:endParaRPr>
          </a:p>
          <a:p>
            <a:endParaRPr lang="de-DE" b="0" i="0" u="none" strike="noStrike" dirty="0">
              <a:effectLst/>
              <a:latin typeface="Google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68557-B801-2E8B-32AB-6D8811E8C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208" y="3542850"/>
            <a:ext cx="2394857" cy="6229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2491FC-8BBF-542D-8BB6-DE471B990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208" y="6024349"/>
            <a:ext cx="3691801" cy="4539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31895B-492F-A190-7279-6FEE537737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06"/>
          <a:stretch/>
        </p:blipFill>
        <p:spPr>
          <a:xfrm>
            <a:off x="4706208" y="4747446"/>
            <a:ext cx="3592887" cy="691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DC5A17-F6C8-8200-B265-177AFD44C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208" y="4208176"/>
            <a:ext cx="56261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22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r>
              <a:rPr lang="en-GB" dirty="0"/>
              <a:t>U_ZZ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E9ED9-401E-6ADC-62E9-0CCC93294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12" y="1124262"/>
            <a:ext cx="11919578" cy="5578515"/>
          </a:xfrm>
        </p:spPr>
        <p:txBody>
          <a:bodyPr/>
          <a:lstStyle/>
          <a:p>
            <a:endParaRPr lang="en-GB" b="0" i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Fidelity: </a:t>
            </a:r>
          </a:p>
          <a:p>
            <a:pPr marL="228600" lvl="1" indent="0">
              <a:buNone/>
            </a:pPr>
            <a:r>
              <a:rPr lang="en-GB" b="1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0.999107</a:t>
            </a:r>
          </a:p>
          <a:p>
            <a:endParaRPr lang="en-GB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Time: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  42 min</a:t>
            </a:r>
          </a:p>
          <a:p>
            <a:endParaRPr lang="en-GB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# params: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  54</a:t>
            </a: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7EB02-78C6-C722-B667-B6FA63FF7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124262"/>
            <a:ext cx="9651790" cy="549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5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r>
              <a:rPr lang="en-GB" dirty="0"/>
              <a:t>Hadamard (electron)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E9ED9-401E-6ADC-62E9-0CCC93294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12" y="1124262"/>
            <a:ext cx="11919578" cy="5578515"/>
          </a:xfrm>
        </p:spPr>
        <p:txBody>
          <a:bodyPr/>
          <a:lstStyle/>
          <a:p>
            <a:endParaRPr lang="en-GB" b="0" i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Fidelity: </a:t>
            </a:r>
          </a:p>
          <a:p>
            <a:pPr marL="228600" lvl="1" indent="0">
              <a:buNone/>
            </a:pPr>
            <a:r>
              <a:rPr lang="en-DE" b="1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0.7141/0.9991</a:t>
            </a:r>
            <a:endParaRPr lang="en-GB" b="1" i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endParaRPr lang="en-GB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Time: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  11/14 min</a:t>
            </a:r>
          </a:p>
          <a:p>
            <a:endParaRPr lang="en-GB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# params: 54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7EB02-78C6-C722-B667-B6FA63FF7E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4723958"/>
            <a:ext cx="3713744" cy="21137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4CBF66-09B8-9658-62F9-9DBC16821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691" y="1125175"/>
            <a:ext cx="8179797" cy="465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5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r>
              <a:rPr lang="en-GB" dirty="0"/>
              <a:t>CNOT(1=&gt;2) </a:t>
            </a:r>
            <a:r>
              <a:rPr lang="en-GB" sz="1800" dirty="0"/>
              <a:t>x</a:t>
            </a:r>
            <a:r>
              <a:rPr lang="en-GB" dirty="0"/>
              <a:t> 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809E1F-2A5A-C970-4DD8-8BBDAFC75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3556" y="1196623"/>
            <a:ext cx="9568535" cy="5446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4523DF-6FFE-3523-48D2-749630BA937C}"/>
              </a:ext>
            </a:extLst>
          </p:cNvPr>
          <p:cNvSpPr txBox="1"/>
          <p:nvPr/>
        </p:nvSpPr>
        <p:spPr>
          <a:xfrm>
            <a:off x="132512" y="1196623"/>
            <a:ext cx="31057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0" i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Fidelity: </a:t>
            </a:r>
          </a:p>
          <a:p>
            <a:pPr marL="228600" lvl="1" indent="0">
              <a:buNone/>
            </a:pPr>
            <a:r>
              <a:rPr lang="en-DE" b="1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0.99894</a:t>
            </a:r>
            <a:endParaRPr lang="en-GB" b="1" i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endParaRPr lang="en-GB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Time: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  78 min</a:t>
            </a:r>
          </a:p>
          <a:p>
            <a:endParaRPr lang="en-GB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# params: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  54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496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r>
              <a:rPr lang="en-GB" dirty="0"/>
              <a:t>CNOT(1=&gt;2) </a:t>
            </a:r>
            <a:r>
              <a:rPr lang="en-GB" sz="1800" dirty="0"/>
              <a:t>x</a:t>
            </a:r>
            <a:r>
              <a:rPr lang="en-GB" dirty="0"/>
              <a:t> CNOT(1=&gt;3)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523DF-6FFE-3523-48D2-749630BA937C}"/>
              </a:ext>
            </a:extLst>
          </p:cNvPr>
          <p:cNvSpPr txBox="1"/>
          <p:nvPr/>
        </p:nvSpPr>
        <p:spPr>
          <a:xfrm>
            <a:off x="132512" y="1196623"/>
            <a:ext cx="31057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0" i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Fidelity: </a:t>
            </a:r>
          </a:p>
          <a:p>
            <a:pPr marL="228600" lvl="1" indent="0">
              <a:buNone/>
            </a:pPr>
            <a:r>
              <a:rPr lang="en-DE" b="1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0.9990</a:t>
            </a:r>
            <a:endParaRPr lang="en-GB" b="1" i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endParaRPr lang="en-GB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Time: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  18 min</a:t>
            </a:r>
          </a:p>
          <a:p>
            <a:endParaRPr lang="en-GB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# params: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  54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44CE7-D9BF-0616-C6C4-21AFBD179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807" y="1245765"/>
            <a:ext cx="9640284" cy="548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46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r>
              <a:rPr lang="en-GB" dirty="0"/>
              <a:t>U_XX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523DF-6FFE-3523-48D2-749630BA937C}"/>
              </a:ext>
            </a:extLst>
          </p:cNvPr>
          <p:cNvSpPr txBox="1"/>
          <p:nvPr/>
        </p:nvSpPr>
        <p:spPr>
          <a:xfrm>
            <a:off x="132512" y="1196623"/>
            <a:ext cx="31057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0" i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Fidelity: </a:t>
            </a:r>
          </a:p>
          <a:p>
            <a:pPr marL="228600" lvl="1" indent="0">
              <a:buNone/>
            </a:pPr>
            <a:r>
              <a:rPr lang="en-DE" b="1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0.97223</a:t>
            </a:r>
          </a:p>
          <a:p>
            <a:pPr marL="228600" lvl="1" indent="0">
              <a:buNone/>
            </a:pPr>
            <a:r>
              <a:rPr lang="en-DE" dirty="0">
                <a:latin typeface="Menlo" panose="020B0609030804020204" pitchFamily="49" charset="0"/>
              </a:rPr>
              <a:t>(0.96 with </a:t>
            </a:r>
          </a:p>
          <a:p>
            <a:pPr marL="228600" lvl="1" indent="0">
              <a:buNone/>
            </a:pPr>
            <a:r>
              <a:rPr lang="en-DE" i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time opt.)</a:t>
            </a:r>
            <a:endParaRPr lang="en-GB" i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endParaRPr lang="en-GB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Time: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  98 min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</a:rPr>
              <a:t>  (1d with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  time opt.)</a:t>
            </a:r>
          </a:p>
          <a:p>
            <a:endParaRPr lang="en-GB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# params: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  54</a:t>
            </a:r>
          </a:p>
          <a:p>
            <a:pPr marL="0" indent="0">
              <a:buNone/>
            </a:pPr>
            <a:endParaRPr lang="en-GB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Menlo" panose="020B0609030804020204" pitchFamily="49" charset="0"/>
              </a:rPr>
              <a:t>T_opt</a:t>
            </a:r>
            <a:r>
              <a:rPr lang="en-GB" dirty="0">
                <a:solidFill>
                  <a:schemeClr val="tx1"/>
                </a:solidFill>
                <a:latin typeface="Menlo" panose="020B0609030804020204" pitchFamily="49" charset="0"/>
              </a:rPr>
              <a:t>=2µs)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44CE7-D9BF-0616-C6C4-21AFBD1795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11807" y="1245765"/>
            <a:ext cx="9640283" cy="548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79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10" y="125250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r>
              <a:rPr lang="en-GB" dirty="0"/>
              <a:t>Level b Hamiltonian, 2 controls (</a:t>
            </a:r>
            <a:r>
              <a:rPr lang="en-GB" dirty="0" err="1"/>
              <a:t>B_x</a:t>
            </a:r>
            <a:r>
              <a:rPr lang="en-GB" dirty="0"/>
              <a:t>, </a:t>
            </a:r>
            <a:r>
              <a:rPr lang="en-GB" dirty="0" err="1"/>
              <a:t>B_y</a:t>
            </a:r>
            <a:r>
              <a:rPr lang="en-GB" dirty="0"/>
              <a:t>) total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BA2727-2269-E584-BF1D-BECF035EE4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17"/>
          <a:stretch/>
        </p:blipFill>
        <p:spPr>
          <a:xfrm>
            <a:off x="3718559" y="2382592"/>
            <a:ext cx="7772400" cy="38049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C3D07E-0D18-D513-103A-A9AA76BA64A4}"/>
              </a:ext>
            </a:extLst>
          </p:cNvPr>
          <p:cNvSpPr txBox="1"/>
          <p:nvPr/>
        </p:nvSpPr>
        <p:spPr>
          <a:xfrm>
            <a:off x="365760" y="2636520"/>
            <a:ext cx="304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fid: 0.57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CPU time: 23 min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 err="1"/>
              <a:t>T_opt</a:t>
            </a:r>
            <a:r>
              <a:rPr lang="en-GB" dirty="0"/>
              <a:t> = 2µs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 err="1"/>
              <a:t>N_freq</a:t>
            </a:r>
            <a:r>
              <a:rPr lang="en-GB" dirty="0"/>
              <a:t> = 6</a:t>
            </a:r>
          </a:p>
        </p:txBody>
      </p:sp>
    </p:spTree>
    <p:extLst>
      <p:ext uri="{BB962C8B-B14F-4D97-AF65-F5344CB8AC3E}">
        <p14:creationId xmlns:p14="http://schemas.microsoft.com/office/powerpoint/2010/main" val="4103457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10" y="125250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r>
              <a:rPr lang="en-GB" dirty="0"/>
              <a:t>Level C Hamiltonian, 2 controls (</a:t>
            </a:r>
            <a:r>
              <a:rPr lang="en-GB" dirty="0" err="1"/>
              <a:t>B_x</a:t>
            </a:r>
            <a:r>
              <a:rPr lang="en-GB" dirty="0"/>
              <a:t>, </a:t>
            </a:r>
            <a:r>
              <a:rPr lang="en-GB" dirty="0" err="1"/>
              <a:t>B_y</a:t>
            </a:r>
            <a:r>
              <a:rPr lang="en-GB" dirty="0"/>
              <a:t>) total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BA2727-2269-E584-BF1D-BECF035EE4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67"/>
          <a:stretch/>
        </p:blipFill>
        <p:spPr>
          <a:xfrm>
            <a:off x="3722901" y="2408348"/>
            <a:ext cx="7763715" cy="37791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C3D07E-0D18-D513-103A-A9AA76BA64A4}"/>
              </a:ext>
            </a:extLst>
          </p:cNvPr>
          <p:cNvSpPr txBox="1"/>
          <p:nvPr/>
        </p:nvSpPr>
        <p:spPr>
          <a:xfrm>
            <a:off x="365760" y="2636520"/>
            <a:ext cx="304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fid: 0.208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CPU time: 565 min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 err="1"/>
              <a:t>T_opt</a:t>
            </a:r>
            <a:r>
              <a:rPr lang="en-GB" dirty="0"/>
              <a:t> = 2µs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 err="1"/>
              <a:t>N_freq</a:t>
            </a:r>
            <a:r>
              <a:rPr lang="en-GB" dirty="0"/>
              <a:t> = 6</a:t>
            </a:r>
          </a:p>
        </p:txBody>
      </p:sp>
    </p:spTree>
    <p:extLst>
      <p:ext uri="{BB962C8B-B14F-4D97-AF65-F5344CB8AC3E}">
        <p14:creationId xmlns:p14="http://schemas.microsoft.com/office/powerpoint/2010/main" val="1785485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r>
              <a:rPr lang="en-GB" dirty="0"/>
              <a:t>Two stage warm start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330244-70FA-D448-590D-9506F9BA8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483" y="1290286"/>
            <a:ext cx="9393527" cy="516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92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939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C00B-3F13-4EDE-3CD5-C8C79008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2" y="155223"/>
            <a:ext cx="11919579" cy="834128"/>
          </a:xfrm>
        </p:spPr>
        <p:txBody>
          <a:bodyPr/>
          <a:lstStyle/>
          <a:p>
            <a:pPr algn="l">
              <a:tabLst>
                <a:tab pos="24352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868633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{F6912AE0-4D68-C64B-A9DD-3CE0F1B83A3C}tf10001120</Template>
  <TotalTime>59006</TotalTime>
  <Words>419</Words>
  <Application>Microsoft Macintosh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Gill Sans MT</vt:lpstr>
      <vt:lpstr>Google Sans</vt:lpstr>
      <vt:lpstr>Menlo</vt:lpstr>
      <vt:lpstr>Parcel</vt:lpstr>
      <vt:lpstr>U_XX gate synthesis using qutip_qoc GOAT analytical pulse optimisation</vt:lpstr>
      <vt:lpstr>Target U_XX &amp; Hamiltonian </vt:lpstr>
      <vt:lpstr>Paper: GRAPE state-to-state-transfer</vt:lpstr>
      <vt:lpstr>(non-feasible) GOAT Runs</vt:lpstr>
      <vt:lpstr>Carrier-informed GOAT runs</vt:lpstr>
      <vt:lpstr>Rotating frame ising Hamiltonian  + 2 independent controls per particle</vt:lpstr>
      <vt:lpstr>U_ZZ </vt:lpstr>
      <vt:lpstr>Hadamard (electron)</vt:lpstr>
      <vt:lpstr>CNOT(1=&gt;2) x I</vt:lpstr>
      <vt:lpstr>CNOT(1=&gt;2) x CNOT(1=&gt;3)</vt:lpstr>
      <vt:lpstr>U_XX</vt:lpstr>
      <vt:lpstr>Level b Hamiltonian, 2 controls (B_x, B_y) total </vt:lpstr>
      <vt:lpstr>Level C Hamiltonian, 2 controls (B_x, B_y) total </vt:lpstr>
      <vt:lpstr>Two stage warm start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U_XX gate synthesis using qutip_qoc GOAT analytical pulse</dc:title>
  <dc:creator>John Kraus</dc:creator>
  <cp:lastModifiedBy>John Kraus</cp:lastModifiedBy>
  <cp:revision>20</cp:revision>
  <dcterms:created xsi:type="dcterms:W3CDTF">2026-03-13T13:25:16Z</dcterms:created>
  <dcterms:modified xsi:type="dcterms:W3CDTF">2026-05-07T14:50:43Z</dcterms:modified>
</cp:coreProperties>
</file>